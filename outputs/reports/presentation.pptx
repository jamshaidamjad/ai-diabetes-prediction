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Early Diabetes Prediction
Using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CE6F1"/>
                </a:solidFill>
              </a:rPr>
              <a:t>A Medical Decision Support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Jamshaid Amjad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CE6F1"/>
                </a:solidFill>
              </a:rPr>
              <a:t>AI in Healthcare — Capstone Project  |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CE6F1"/>
                </a:solidFill>
              </a:rPr>
              <a:t>Dataset: Pima Indians Diabetes (n=768)  |  Models: Logistic Regression, Random Forest, MLP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E6F1"/>
                </a:solidFill>
              </a:rPr>
              <a:t>Why does early diabetes detection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8368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CE6F1"/>
                </a:solidFill>
              </a:rPr>
              <a:t>Jamshaid Amjad  |  AI in Healthcare Capstone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303520" cy="512064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Clinical Motivation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 537M adults have diabetes globally (IDF 2021)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 Type 2 diabetes progresses silently — often diagnosed 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3405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 Early screening from routine blood tests = cost-effective prevention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55263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 Task: predict diabetes risk from 8 clinical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7647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 Clinical setting: primary-care screening 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43000"/>
            <a:ext cx="5669280" cy="512064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Pima Indians Diabetes Dataset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9164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Samples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6916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768 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6712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16712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8 clinical variables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42616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64261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Binary (0=No, 1=Yes)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181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Class ratio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11810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65% negative / 35% positive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593592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Missing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5935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Encoded as biological zeros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06908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97D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06908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NIDDK / UCI Repository</a:t>
            </a:r>
          </a:p>
        </p:txBody>
      </p:sp>
      <p:pic>
        <p:nvPicPr>
          <p:cNvPr id="29" name="Picture 28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4663440"/>
            <a:ext cx="493776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E6F1"/>
                </a:solidFill>
              </a:rPr>
              <a:t>End-to-end ML pipeline with leakage-free preprocessing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8368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CE6F1"/>
                </a:solidFill>
              </a:rPr>
              <a:t>Jamshaid Amjad  |  AI in Healthcare Capstone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1. Load &amp;
Clean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Replace bio-
impossible zeros
with NaN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216152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75B6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2. Split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Stratified
70 / 15 / 15
train-val-test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216152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75B6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908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3. Impute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Median imputation
(fit on train
only)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1216152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75B6"/>
                </a:solidFill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4. Scale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StandardScaler
(fit on train
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1216152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75B6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6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5. Feature
Selection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Top-5 by ANOVA
+ RF rank:
Glucose, BMI…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1216152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E75B6"/>
                </a:solidFill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1143000"/>
            <a:ext cx="169164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1179576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6. SMOTE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691640"/>
            <a:ext cx="1691640" cy="14173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1783080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Oversample
minority class
(train only)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3337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</a:rPr>
              <a:t>Models Trained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94760"/>
            <a:ext cx="35661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813048"/>
            <a:ext cx="3383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233672"/>
            <a:ext cx="3566160" cy="17373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279392"/>
            <a:ext cx="3383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Interpretable linear baseline
L-BFGS solver, max_iter=1000
5-fold CV reported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3794760"/>
            <a:ext cx="35661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3813048"/>
            <a:ext cx="3383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4233672"/>
            <a:ext cx="3566160" cy="17373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4279392"/>
            <a:ext cx="3383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300 trees, non-linear ensemble
GridSearchCV tuning:
max_depth=10, n_estimators=100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80" y="3794760"/>
            <a:ext cx="35661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3813048"/>
            <a:ext cx="3383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MLP Neural Network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5280" y="4233672"/>
            <a:ext cx="3566160" cy="17373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0" y="4279392"/>
            <a:ext cx="3383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Dense-16→ReLU→Dropout(0.2)
→Dense-8→ReLU→Dense-1→Sigmoid
Early stopping, patience=10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E6F1"/>
                </a:solidFill>
              </a:rPr>
              <a:t>Test-set evaluation (n=116 held-out samples)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8368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CE6F1"/>
                </a:solidFill>
              </a:rPr>
              <a:t>Jamshaid Amjad  |  AI in Healthcare Capstone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237744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16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143000"/>
            <a:ext cx="132588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79" y="121615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143000"/>
            <a:ext cx="132588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121615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143000"/>
            <a:ext cx="118872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2161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143000"/>
            <a:ext cx="132588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1216152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F1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19" y="1143000"/>
            <a:ext cx="1508760" cy="43891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1216152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581912"/>
            <a:ext cx="237744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16550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Logistic Regression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1581912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16550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0.776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1581912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59" y="16550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0.683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1581912"/>
            <a:ext cx="118872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16550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1581912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165506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19" y="1581912"/>
            <a:ext cx="150876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1655064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0.866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020824"/>
            <a:ext cx="2377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0939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Random Forest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2020824"/>
            <a:ext cx="1325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79" y="209397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0.767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2020824"/>
            <a:ext cx="1325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59" y="209397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0.694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2020824"/>
            <a:ext cx="1188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20939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020824"/>
            <a:ext cx="1325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2093976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19" y="2020824"/>
            <a:ext cx="1508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2093976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0.841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2459736"/>
            <a:ext cx="237744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25328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MLP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51760" y="2459736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79" y="253288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0.767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2459736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59" y="253288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0.675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0" y="2459736"/>
            <a:ext cx="118872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25328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0.659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2459736"/>
            <a:ext cx="132588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59" y="253288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0.667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19" y="2459736"/>
            <a:ext cx="1508760" cy="438912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0" y="2532888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04040"/>
                </a:solidFill>
              </a:rPr>
              <a:t>0.875 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8529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75B6"/>
                </a:solidFill>
              </a:rPr>
              <a:t>★ Highest ROC-AUC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2723083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5-Fold Cross-Validation F1 (train + val set)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2942539"/>
            <a:ext cx="292608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" y="2997403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942539"/>
            <a:ext cx="201168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46120" y="2997403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CV F1 Mean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12080" y="2942539"/>
            <a:ext cx="18288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57800" y="299740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CV F1 Std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308299"/>
            <a:ext cx="2926080" cy="3657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" y="3372307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Logistic Regression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3308299"/>
            <a:ext cx="2011680" cy="3657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46120" y="3372307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0.718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12080" y="3308299"/>
            <a:ext cx="1828800" cy="3657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57800" y="3372307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±0.029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674059"/>
            <a:ext cx="2926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3738067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Random Forest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0" y="3674059"/>
            <a:ext cx="20116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46120" y="3738067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0.801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12080" y="3674059"/>
            <a:ext cx="18288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57800" y="3738067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04040"/>
                </a:solidFill>
              </a:rPr>
              <a:t>±0.042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2896819"/>
            <a:ext cx="4572000" cy="137160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52360" y="294253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97D"/>
                </a:solidFill>
              </a:rPr>
              <a:t>Key Findings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2360" y="3308299"/>
            <a:ext cx="4297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• MLP achieves best ROC-AUC (0.875)
• LR achieves best F1 (0.683)
• RF most stable across CV folds
• All models &gt;&gt; random baseline (0.500)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Visualisations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E6F1"/>
                </a:solidFill>
              </a:rPr>
              <a:t>ROC curves, model comparison, and feature importance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8368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CE6F1"/>
                </a:solidFill>
              </a:rPr>
              <a:t>Jamshaid Amjad  |  AI in Healthcare Capstone  |  May 2026</a:t>
            </a:r>
          </a:p>
        </p:txBody>
      </p:sp>
      <p:pic>
        <p:nvPicPr>
          <p:cNvPr id="8" name="Picture 7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303520" cy="4545874"/>
          </a:xfrm>
          <a:prstGeom prst="rect">
            <a:avLst/>
          </a:prstGeom>
        </p:spPr>
      </p:pic>
      <p:pic>
        <p:nvPicPr>
          <p:cNvPr id="9" name="Picture 8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097280"/>
            <a:ext cx="6309360" cy="3785616"/>
          </a:xfrm>
          <a:prstGeom prst="rect">
            <a:avLst/>
          </a:prstGeom>
        </p:spPr>
      </p:pic>
      <p:pic>
        <p:nvPicPr>
          <p:cNvPr id="10" name="Picture 9" descr="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297680"/>
            <a:ext cx="8229600" cy="5143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" y="5074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04040"/>
                </a:solidFill>
              </a:rPr>
              <a:t>ROC Curve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507492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04040"/>
                </a:solidFill>
              </a:rPr>
              <a:t>Accuracy / F1 / ROC-AUC by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Clinical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E6F1"/>
                </a:solidFill>
              </a:rPr>
              <a:t>What this means for real-world diabetes screening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8368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CE6F1"/>
                </a:solidFill>
              </a:rPr>
              <a:t>Jamshaid Amjad  |  AI in Healthcare Capstone  | 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486400" cy="50749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</a:rPr>
              <a:t>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37360"/>
            <a:ext cx="228600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1639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 models achieve ROC-AUC &gt; 0.84 from
routine blood tests alone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23160"/>
            <a:ext cx="228600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774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Glucose &amp; BMI are the strongest predictors
— consistent with clinical guidelines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8960"/>
            <a:ext cx="228600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MLP best for probabilistic triage (AUC 0.875);
LR best for interpretable decisions (F1 0.683)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94760"/>
            <a:ext cx="228600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490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SMOTE + feature selection + hyperparameter
tuning all contribute to performance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480560"/>
            <a:ext cx="228600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Pipeline is fully reproducible: one command
reproduces all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143000"/>
            <a:ext cx="5669280" cy="233172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0000"/>
                </a:solidFill>
              </a:rPr>
              <a:t>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⚠  Small, demographically narrow dataset (Pima women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⚠  High missingness in Insulin (~49%) and SkinThickness (~30%)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346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⚠  No prospective or external validation performed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566160"/>
            <a:ext cx="5669280" cy="2651760"/>
          </a:xfrm>
          <a:prstGeom prst="rect">
            <a:avLst/>
          </a:prstGeom>
          <a:solidFill>
            <a:srgbClr val="DC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657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97D"/>
                </a:solidFill>
              </a:rPr>
              <a:t>Future 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6052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→  Validate on larger, diverse multi-ethnic cohorts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5429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→  Add calibration curves for uncertainty quantification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14807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→  Incorporate HbA1c, fasting glucose, family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64184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→  Fairness audit across age / sex subgroups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199632"/>
            <a:ext cx="1161288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2179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Thank you  |  Questions?  |  Code: github.com/JamshaidAmjad/AI-Diabetes-Prediction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