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31920"/>
            <a:ext cx="12188952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2587752" cy="3977639"/>
          </a:xfrm>
          <a:prstGeom prst="rect">
            <a:avLst/>
          </a:prstGeom>
          <a:solidFill>
            <a:srgbClr val="254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</a:rPr>
              <a:t>AI IN HEALTHCARE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8961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Early Diabetes Prediction
Using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DEEAF1"/>
                </a:solidFill>
              </a:rPr>
              <a:t>A Medical Decision Support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160520"/>
            <a:ext cx="3657600" cy="502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Jamshaid Amjad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7316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EEAF1"/>
                </a:solidFill>
              </a:rPr>
              <a:t>AI in Healthcare — Capstone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3892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EEAF1"/>
                </a:solidFill>
              </a:rPr>
              <a:t>May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4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60807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D7D31"/>
                </a:solidFill>
              </a:rPr>
              <a:t>768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643737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EEAF1"/>
                </a:solidFill>
              </a:rPr>
              <a:t>Patients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60807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D7D31"/>
                </a:solidFill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643737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EEAF1"/>
                </a:solidFill>
              </a:rPr>
              <a:t>Clinical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60807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D7D31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643737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EEAF1"/>
                </a:solidFill>
              </a:rPr>
              <a:t>ML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39" y="60807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D7D31"/>
                </a:solidFill>
              </a:rPr>
              <a:t>87.5%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39" y="643737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EEAF1"/>
                </a:solidFill>
              </a:rPr>
              <a:t>Best ROC-AUC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10241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11704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676656"/>
            <a:ext cx="1170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EEAF1"/>
                </a:solidFill>
              </a:rPr>
              <a:t>What this presentation covers — 15 slides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64008" cy="3474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6537960"/>
            <a:ext cx="1179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EEAF1"/>
                </a:solidFill>
              </a:rPr>
              <a:t>Jamshaid Amjad  |  AI in Healthcare — Capstone Project  |  May 2026   [2/15]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43000"/>
            <a:ext cx="5394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43000"/>
            <a:ext cx="502920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5" y="1490472"/>
            <a:ext cx="438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D7D31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23444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Problem &amp; Clinical Motivation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61848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</a:rPr>
              <a:t>Why diabetes screening matters at scale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56632" y="1920240"/>
            <a:ext cx="566928" cy="27432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947672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75B6"/>
                </a:solidFill>
              </a:rPr>
              <a:t>Slide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1143000"/>
            <a:ext cx="5394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143000"/>
            <a:ext cx="502920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1490472"/>
            <a:ext cx="438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D7D31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3992" y="123444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Dataset &amp; Exploratory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3992" y="161848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</a:rPr>
              <a:t>Pima Indians dataset, EDA, class imbalance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36224" y="1920240"/>
            <a:ext cx="566928" cy="27432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54512" y="1947672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75B6"/>
                </a:solidFill>
              </a:rPr>
              <a:t>Slide 4–6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423160"/>
            <a:ext cx="5394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2423160"/>
            <a:ext cx="502920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5" y="2770632"/>
            <a:ext cx="438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D7D31"/>
                </a:solidFill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251460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Preprocessing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289864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</a:rPr>
              <a:t>6-step leakage-free data preparation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56632" y="3200400"/>
            <a:ext cx="566928" cy="27432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3227832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75B6"/>
                </a:solidFill>
              </a:rPr>
              <a:t>Slide 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9632" y="2423160"/>
            <a:ext cx="5394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9632" y="2423160"/>
            <a:ext cx="502920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2770632"/>
            <a:ext cx="438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D7D31"/>
                </a:solidFill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93992" y="251460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Feature Selection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93992" y="289864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</a:rPr>
              <a:t>ANOVA + Random Forest combined ranking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36224" y="3200400"/>
            <a:ext cx="566928" cy="27432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54512" y="3227832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75B6"/>
                </a:solidFill>
              </a:rPr>
              <a:t>Slide 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703320"/>
            <a:ext cx="5394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3703320"/>
            <a:ext cx="502920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5" y="4050791"/>
            <a:ext cx="438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D7D31"/>
                </a:solidFill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3794759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Model Architectures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17880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</a:rPr>
              <a:t>Logistic Regression, Random Forest, MLP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56632" y="4480559"/>
            <a:ext cx="566928" cy="27432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4507992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75B6"/>
                </a:solidFill>
              </a:rPr>
              <a:t>Slide 9–11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99632" y="3703320"/>
            <a:ext cx="5394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99632" y="3703320"/>
            <a:ext cx="502920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36208" y="4050791"/>
            <a:ext cx="438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D7D31"/>
                </a:solidFill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93992" y="3794759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Training Strategy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93992" y="417880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</a:rPr>
              <a:t>Cross-validation, GridSearchCV, early stopping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936224" y="4480559"/>
            <a:ext cx="566928" cy="27432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954512" y="4507992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75B6"/>
                </a:solidFill>
              </a:rPr>
              <a:t>Slide 12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4983479"/>
            <a:ext cx="5394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0040" y="4983479"/>
            <a:ext cx="502920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6615" y="5330951"/>
            <a:ext cx="438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D7D31"/>
                </a:solidFill>
              </a:rPr>
              <a:t>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5074919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Results &amp; Evaluation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5458967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</a:rPr>
              <a:t>Full metrics, ROC curves, model comparison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56632" y="5760719"/>
            <a:ext cx="566928" cy="27432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74920" y="5788151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75B6"/>
                </a:solidFill>
              </a:rPr>
              <a:t>Slide 13–14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99632" y="4983479"/>
            <a:ext cx="5394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199632" y="4983479"/>
            <a:ext cx="502920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36208" y="5330951"/>
            <a:ext cx="438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D7D31"/>
                </a:solidFill>
              </a:rPr>
              <a:t>08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93992" y="5074919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Conclusion &amp; Future Work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93992" y="5458967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</a:rPr>
              <a:t>Key findings, limitations, clinical relevance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936224" y="5760719"/>
            <a:ext cx="566928" cy="27432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954512" y="5788151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75B6"/>
                </a:solidFill>
              </a:rPr>
              <a:t>Slide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10241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11704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Problem &amp; Clinical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676656"/>
            <a:ext cx="1170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EEAF1"/>
                </a:solidFill>
              </a:rPr>
              <a:t>Diabetes is a global epidemic — early detection saves lives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64008" cy="3474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6537960"/>
            <a:ext cx="1179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EEAF1"/>
                </a:solidFill>
              </a:rPr>
              <a:t>Jamshaid Amjad  |  AI in Healthcare — Capstone Project  |  May 2026   [3/15]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15568"/>
            <a:ext cx="2651760" cy="137160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15568"/>
            <a:ext cx="2651760" cy="502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271016"/>
            <a:ext cx="24688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F3864"/>
                </a:solidFill>
              </a:rPr>
              <a:t>537M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1920240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07070"/>
                </a:solidFill>
              </a:rPr>
              <a:t>Adults with diabetes
globally (2021)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1115568"/>
            <a:ext cx="2651760" cy="137160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18688" y="1115568"/>
            <a:ext cx="2651760" cy="502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1271016"/>
            <a:ext cx="24688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F3864"/>
                </a:solidFill>
              </a:rPr>
              <a:t>783M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1920240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07070"/>
                </a:solidFill>
              </a:rPr>
              <a:t>Projected by 2045
(+46% increase)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17336" y="1115568"/>
            <a:ext cx="2651760" cy="137160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17336" y="1115568"/>
            <a:ext cx="2651760" cy="502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08775" y="1271016"/>
            <a:ext cx="24688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F3864"/>
                </a:solidFill>
              </a:rPr>
              <a:t>&gt;90%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5" y="1920240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07070"/>
                </a:solidFill>
              </a:rPr>
              <a:t>Are Type 2 diabetes
(preventable)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15984" y="1115568"/>
            <a:ext cx="2651760" cy="137160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15984" y="1115568"/>
            <a:ext cx="2651760" cy="502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7424" y="1271016"/>
            <a:ext cx="24688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F3864"/>
                </a:solidFill>
              </a:rPr>
              <a:t>$966B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424" y="1920240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07070"/>
                </a:solidFill>
              </a:rPr>
              <a:t>Annual global health
expenditure on diabetes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606040"/>
            <a:ext cx="5486400" cy="283464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606040"/>
            <a:ext cx="5486400" cy="502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" y="2697480"/>
            <a:ext cx="5230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The Clinical Challenge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" y="3108960"/>
            <a:ext cx="523036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▸  Type 2 diabetes progresses silently for years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" y="3529584"/>
            <a:ext cx="523036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▸  Often diagnosed after irreversible organ damage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" y="3950208"/>
            <a:ext cx="523036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▸  Standard fasting glucose test is invasive &amp; costly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" y="4370832"/>
            <a:ext cx="523036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▸  Primary care is overwhelmed — needs decision tools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" y="4791456"/>
            <a:ext cx="523036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▸  Timely screening reduces complications by up to 58%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62472" y="2606040"/>
            <a:ext cx="5806440" cy="283464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62472" y="2606040"/>
            <a:ext cx="5806440" cy="502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0488" y="2697480"/>
            <a:ext cx="55504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How Machine Learning Can Help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0488" y="3108960"/>
            <a:ext cx="555040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▸  Predict risk from routine clinical blood measurements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0488" y="3529584"/>
            <a:ext cx="555040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▸  Automate flag of high-risk patients for confirmatory test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0488" y="3950208"/>
            <a:ext cx="555040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▸  Provide probabilistic scores, not just binary outputs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0488" y="4370832"/>
            <a:ext cx="555040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▸  Interpretable models support clinical decision-making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0488" y="4791456"/>
            <a:ext cx="555040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▸  Cost-effective: uses data already collected at primary care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10241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11704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676656"/>
            <a:ext cx="1170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EEAF1"/>
                </a:solidFill>
              </a:rPr>
              <a:t>Pima Indians Diabetes Dataset — NIDDK / UCI Machine Learning Repository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64008" cy="3474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6537960"/>
            <a:ext cx="1179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EEAF1"/>
                </a:solidFill>
              </a:rPr>
              <a:t>Jamshaid Amjad  |  AI in Healthcare — Capstone Project  |  May 2026   [4/15]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43000"/>
            <a:ext cx="2926080" cy="1115568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43000"/>
            <a:ext cx="50292" cy="1115568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1216152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Total patients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" y="1545336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</a:rPr>
              <a:t>768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377440"/>
            <a:ext cx="2926080" cy="1115568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377440"/>
            <a:ext cx="50292" cy="11155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" y="2450592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Input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" y="2779776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</a:rPr>
              <a:t>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611880"/>
            <a:ext cx="2926080" cy="1115568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611880"/>
            <a:ext cx="50292" cy="1115568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" y="3685032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Positive cases (35%)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" y="4014216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</a:rPr>
              <a:t>268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846320"/>
            <a:ext cx="2926080" cy="1115568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846320"/>
            <a:ext cx="50292" cy="11155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" y="4919472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Negative cases (65%)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" y="5248656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</a:rPr>
              <a:t>500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1143000"/>
            <a:ext cx="8348472" cy="5257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39312" y="1188720"/>
            <a:ext cx="8092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Clinical Features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0440" y="1600200"/>
            <a:ext cx="8348472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75304" y="1618488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44183" y="1618488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13064" y="161848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Unit / 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41864" y="1618488"/>
            <a:ext cx="1490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Missing?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1993392"/>
            <a:ext cx="8348472" cy="466344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75304" y="2066544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Glucose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44183" y="2066544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Plasma glucose conc. (2hr OGTT)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13064" y="206654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mg/dL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41864" y="2066544"/>
            <a:ext cx="1490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Yes (4.9%)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20440" y="2459736"/>
            <a:ext cx="8348472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75304" y="2532888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BMI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44183" y="2532888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Body Mass Index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13064" y="253288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kg/m²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41864" y="2532888"/>
            <a:ext cx="1490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Yes (1.4%)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2926080"/>
            <a:ext cx="8348472" cy="466344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75304" y="2999232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BloodPressure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44183" y="2999232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Diastolic blood pressure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13064" y="299923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mm Hg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41864" y="2999232"/>
            <a:ext cx="1490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Yes (4.6%)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20440" y="3392424"/>
            <a:ext cx="8348472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75304" y="3465576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Insulin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44183" y="3465576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2-hour serum insulin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13064" y="346557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μU/mL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41864" y="3465576"/>
            <a:ext cx="1490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Yes (48.7%)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3858768"/>
            <a:ext cx="8348472" cy="466344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75304" y="3931920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SkinThickness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44183" y="3931920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Triceps skin-fold thickness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13064" y="39319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mm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41864" y="3931920"/>
            <a:ext cx="1490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Yes (29.6%)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20440" y="4325112"/>
            <a:ext cx="8348472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75304" y="4398264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DiabetesPedigreeFunction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44183" y="4398264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Genetic diabetes risk score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13064" y="439826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0–2.42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41864" y="4398264"/>
            <a:ext cx="1490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No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520440" y="4791456"/>
            <a:ext cx="8348472" cy="466344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575304" y="4864608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Age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44183" y="4864608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Age of patient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13064" y="486460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Years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41864" y="4864608"/>
            <a:ext cx="1490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No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20440" y="5257800"/>
            <a:ext cx="8348472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75304" y="5330952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Pregnancies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44183" y="5330952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Number of pregnancies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13064" y="53309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Count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341864" y="5330952"/>
            <a:ext cx="1490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No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520440" y="5724144"/>
            <a:ext cx="8348472" cy="466344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575304" y="5797296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</a:rPr>
              <a:t>Outcome  (TARGET)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44183" y="5797296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F3864"/>
                </a:solidFill>
              </a:rPr>
              <a:t>Diabetes diagnosis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13064" y="579729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F3864"/>
                </a:solidFill>
              </a:rPr>
              <a:t>0 /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41864" y="5797296"/>
            <a:ext cx="1490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F3864"/>
                </a:solidFill>
              </a:rPr>
              <a:t>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10241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11704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Exploratory Data Analysis — Class Distribution &amp; Missing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676656"/>
            <a:ext cx="1170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EEAF1"/>
                </a:solidFill>
              </a:rPr>
              <a:t>Understanding imbalance and data quality before modelling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64008" cy="3474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6537960"/>
            <a:ext cx="1179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EEAF1"/>
                </a:solidFill>
              </a:rPr>
              <a:t>Jamshaid Amjad  |  AI in Healthcare — Capstone Project  |  May 2026   [5/15]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15568"/>
            <a:ext cx="5212080" cy="5193792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15568"/>
            <a:ext cx="5212080" cy="50292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1188720"/>
            <a:ext cx="4956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Class Distribution</a:t>
            </a:r>
          </a:p>
        </p:txBody>
      </p:sp>
      <p:pic>
        <p:nvPicPr>
          <p:cNvPr id="13" name="Picture 12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27632"/>
            <a:ext cx="4937760" cy="395020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742432" y="1115568"/>
            <a:ext cx="6126480" cy="2450592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42432" y="1115568"/>
            <a:ext cx="6126480" cy="502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70448" y="1188720"/>
            <a:ext cx="5870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Missing Data (Biological Zeros → NaN)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162763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Insulin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1682496"/>
            <a:ext cx="3108960" cy="228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682496"/>
            <a:ext cx="1514063" cy="2286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92840" y="162763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</a:rPr>
              <a:t>48.7%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204825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SkinThickness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2440" y="2103120"/>
            <a:ext cx="3108960" cy="228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2103120"/>
            <a:ext cx="920252" cy="228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92840" y="204825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</a:rPr>
              <a:t>29.6%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0448" y="24688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BloodPressure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2440" y="2523744"/>
            <a:ext cx="3108960" cy="228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2523744"/>
            <a:ext cx="143012" cy="228600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92840" y="246888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F75B6"/>
                </a:solidFill>
              </a:rPr>
              <a:t>4.6%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0448" y="288950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Glucose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92440" y="2944368"/>
            <a:ext cx="3108960" cy="228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92440" y="2944368"/>
            <a:ext cx="152339" cy="228600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292840" y="288950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F75B6"/>
                </a:solidFill>
              </a:rPr>
              <a:t>4.9%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331012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BMI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92440" y="3364992"/>
            <a:ext cx="3108960" cy="228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92440" y="3364992"/>
            <a:ext cx="43525" cy="2286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292840" y="331012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0AD47"/>
                </a:solidFill>
              </a:rPr>
              <a:t>1.4%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42432" y="3703320"/>
            <a:ext cx="6126480" cy="260604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2432" y="3703320"/>
            <a:ext cx="6126480" cy="502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70448" y="3776472"/>
            <a:ext cx="5870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Key EDA Insights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70448" y="4206240"/>
            <a:ext cx="5870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▸  65% negative / 35% positive → class imbalance requires SMOTE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70448" y="4608576"/>
            <a:ext cx="5870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▸  Insulin has the most missing data (49%) — median imputation used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70448" y="5010912"/>
            <a:ext cx="5870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▸  Zeros in Glucose / BMI are biologically impossible → treated as NaN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70448" y="5413248"/>
            <a:ext cx="5870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▸  All features are continuous except Pregnancies &amp; Outcome (discrete)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70448" y="5815583"/>
            <a:ext cx="5870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▸  No duplicate rows; dataset is complete after zero replacement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10241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11704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Exploratory Data Analysis — Feature Distributions &amp; Correlations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676656"/>
            <a:ext cx="1170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EEAF1"/>
                </a:solidFill>
              </a:rPr>
              <a:t>Understanding which features separate diabetic from non-diabetic patients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64008" cy="3474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6537960"/>
            <a:ext cx="1179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EEAF1"/>
                </a:solidFill>
              </a:rPr>
              <a:t>Jamshaid Amjad  |  AI in Healthcare — Capstone Project  |  May 2026   [6/15]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15568"/>
            <a:ext cx="7040880" cy="5193792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15568"/>
            <a:ext cx="7040880" cy="50292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1188720"/>
            <a:ext cx="6784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Feature Distributions by Outcome (KDE)</a:t>
            </a:r>
          </a:p>
        </p:txBody>
      </p:sp>
      <p:pic>
        <p:nvPicPr>
          <p:cNvPr id="13" name="Picture 12" descr="feature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627632"/>
            <a:ext cx="6903720" cy="34518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571231" y="1115568"/>
            <a:ext cx="4297680" cy="5193792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71231" y="1115568"/>
            <a:ext cx="4297680" cy="502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1188720"/>
            <a:ext cx="4041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Correlation with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1627632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Glucose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21824" y="1682496"/>
            <a:ext cx="1691640" cy="228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21824" y="1682496"/>
            <a:ext cx="1590141" cy="228600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77472" y="162763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F75B6"/>
                </a:solidFill>
              </a:rPr>
              <a:t>0.47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8" y="2139696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BMI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21824" y="2194560"/>
            <a:ext cx="1691640" cy="228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21824" y="2194560"/>
            <a:ext cx="981151" cy="228600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77472" y="213969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F75B6"/>
                </a:solidFill>
              </a:rPr>
              <a:t>0.29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2651760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21824" y="2706624"/>
            <a:ext cx="1691640" cy="228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21824" y="2706624"/>
            <a:ext cx="811987" cy="228600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777472" y="26517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F75B6"/>
                </a:solidFill>
              </a:rPr>
              <a:t>0.24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8" y="3163824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Pregnancies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21824" y="3218688"/>
            <a:ext cx="1691640" cy="228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21824" y="3218688"/>
            <a:ext cx="744321" cy="228600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77472" y="316382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F75B6"/>
                </a:solidFill>
              </a:rPr>
              <a:t>0.22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8" y="367588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DiabetesPedigreeFunction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21824" y="3730752"/>
            <a:ext cx="1691640" cy="228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1824" y="3730752"/>
            <a:ext cx="575157" cy="228600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777472" y="367588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F75B6"/>
                </a:solidFill>
              </a:rPr>
              <a:t>0.17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99248" y="4187952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Insulin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21824" y="4242816"/>
            <a:ext cx="1691640" cy="228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021824" y="4242816"/>
            <a:ext cx="439826" cy="228600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777472" y="41879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F75B6"/>
                </a:solidFill>
              </a:rPr>
              <a:t>0.13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99248" y="4700016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SkinThickness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21824" y="4754880"/>
            <a:ext cx="1691640" cy="228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021824" y="4754880"/>
            <a:ext cx="236829" cy="228600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777472" y="470001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07070"/>
                </a:solidFill>
              </a:rPr>
              <a:t>0.07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99248" y="5212080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BloodPressure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21824" y="5266944"/>
            <a:ext cx="1691640" cy="228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021824" y="5266944"/>
            <a:ext cx="236829" cy="228600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777472" y="52120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07070"/>
                </a:solidFill>
              </a:rPr>
              <a:t>0.07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99248" y="5961888"/>
            <a:ext cx="40416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07070"/>
                </a:solidFill>
              </a:rPr>
              <a:t>Glucose is the strongest predictor (r=0.47),
followed by BMI and 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10241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11704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Preprocessing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676656"/>
            <a:ext cx="1170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EEAF1"/>
                </a:solidFill>
              </a:rPr>
              <a:t>Six leakage-free steps — all transformers fitted on training data 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64008" cy="3474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6537960"/>
            <a:ext cx="1179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EEAF1"/>
                </a:solidFill>
              </a:rPr>
              <a:t>Jamshaid Amjad  |  AI in Healthcare — Capstone Project  |  May 2026   [7/15]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15568"/>
            <a:ext cx="1783080" cy="233172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15568"/>
            <a:ext cx="1783080" cy="50292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165860"/>
            <a:ext cx="1783080" cy="457200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1179576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117957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Load &amp;
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1691640"/>
            <a:ext cx="1600200" cy="1664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Replace biological zeros
(Glucose, BMI, Insulin,
BloodPressure, SkinThickness)
with NaN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2029967"/>
            <a:ext cx="201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F75B6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04288" y="1115568"/>
            <a:ext cx="1783080" cy="233172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04288" y="1115568"/>
            <a:ext cx="1783080" cy="50292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04288" y="1165860"/>
            <a:ext cx="1783080" cy="457200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0" y="1179576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88336" y="117957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Stratified
Split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1691640"/>
            <a:ext cx="1600200" cy="1664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70% Train
15% Validation
15% Test
Stratified by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05655" y="2029967"/>
            <a:ext cx="201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F75B6"/>
                </a:solidFill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88536" y="1115568"/>
            <a:ext cx="1783080" cy="233172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88536" y="1115568"/>
            <a:ext cx="1783080" cy="50292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88536" y="1165860"/>
            <a:ext cx="1783080" cy="457200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1688" y="1179576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72583" y="117957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Median
Imputation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9975" y="1691640"/>
            <a:ext cx="1600200" cy="1664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SimpleImputer (median)
Fit on train ONLY
Applied to val + test
No leakage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9903" y="2029967"/>
            <a:ext cx="201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F75B6"/>
                </a:solidFill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72783" y="1115568"/>
            <a:ext cx="1783080" cy="233172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72783" y="1115568"/>
            <a:ext cx="1783080" cy="50292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72783" y="1165860"/>
            <a:ext cx="1783080" cy="457200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45936" y="1179576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56831" y="117957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StandardScaler
Normalisation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4223" y="1691640"/>
            <a:ext cx="1600200" cy="1664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Mean=0, Std=1
Fit on train ONLY
Applied to val + test
Essential for LR &amp; MLP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74151" y="2029967"/>
            <a:ext cx="201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F75B6"/>
                </a:solidFill>
              </a:rPr>
              <a:t>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57031" y="1115568"/>
            <a:ext cx="1783080" cy="233172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57031" y="1115568"/>
            <a:ext cx="1783080" cy="50292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57031" y="1165860"/>
            <a:ext cx="1783080" cy="457200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3" y="1179576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1080" y="117957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Feature
Selection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8471" y="1691640"/>
            <a:ext cx="1600200" cy="1664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Top-5 by average of:
• ANOVA F-test rank
• Random Forest
  importance rank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399" y="2029967"/>
            <a:ext cx="201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F75B6"/>
                </a:solidFill>
              </a:rPr>
              <a:t>▶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241280" y="1115568"/>
            <a:ext cx="1783080" cy="233172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241280" y="1115568"/>
            <a:ext cx="1783080" cy="50292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241280" y="1165860"/>
            <a:ext cx="1783080" cy="457200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314432" y="1179576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25328" y="117957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SMOTE
Oversampling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2719" y="1691640"/>
            <a:ext cx="1600200" cy="1664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Synthetic Minority
Oversampling — train
set ONLY
Balances 65/35 → 50/50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3584448"/>
            <a:ext cx="11548872" cy="2724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20040" y="3584448"/>
            <a:ext cx="11548872" cy="502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364845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Why Leakage-Free Matters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4133087"/>
            <a:ext cx="5577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✗  Fitting scaler on ALL data leaks test statistics into training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4791455"/>
            <a:ext cx="5577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✗  Imputing on ALL data uses future test values to fill training gaps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5449823"/>
            <a:ext cx="5577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✗  SMOTE applied to test set creates artificial, non-real samples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4133087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✓  All transformers fit on train set — same transform applied to val/test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20" y="4791455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✓  Stratified split preserves class ratio in every split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5449823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✓  This pipeline exactly mirrors real deployment conditions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10241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11704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Feature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676656"/>
            <a:ext cx="1170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EEAF1"/>
                </a:solidFill>
              </a:rPr>
              <a:t>Combining ANOVA F-test and Random Forest importance for robust top-5 selection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64008" cy="3474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6537960"/>
            <a:ext cx="1179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EEAF1"/>
                </a:solidFill>
              </a:rPr>
              <a:t>Jamshaid Amjad  |  AI in Healthcare — Capstone Project  |  May 2026   [8/15]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15568"/>
            <a:ext cx="5029200" cy="5193792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15568"/>
            <a:ext cx="5029200" cy="502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1188720"/>
            <a:ext cx="4773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Selection Methodology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" y="1627632"/>
            <a:ext cx="914400" cy="89611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1700784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D7D31"/>
                </a:solidFill>
              </a:rPr>
              <a:t>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167335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ANOVA F-test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1956816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Compute F-statistic for each feature
vs. Outcome. Rank 1–8 (1=highest).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" y="2743200"/>
            <a:ext cx="914400" cy="89611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281635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D7D31"/>
                </a:solidFill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278892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Random Forest Rank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3072384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Train RF on training data. Use
feature_importances_ to rank 1–8.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" y="3858768"/>
            <a:ext cx="914400" cy="89611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393192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D7D31"/>
                </a:solidFill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3904487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Average Rank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4187952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Average the two ranks per feature.
Select the 5 features with lowest
(best) average rank.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" y="4974336"/>
            <a:ext cx="914400" cy="89611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504748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D7D31"/>
                </a:solidFill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" y="502005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Apply Selection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4752" y="530352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Use the same 5 feature indices on
val + test sets. Never refit on test.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1115568"/>
            <a:ext cx="6291072" cy="5193792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77840" y="1115568"/>
            <a:ext cx="6291072" cy="50292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05856" y="118872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Feature Importances (Random Forest)</a:t>
            </a:r>
          </a:p>
        </p:txBody>
      </p:sp>
      <p:pic>
        <p:nvPicPr>
          <p:cNvPr id="32" name="Picture 31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1627632"/>
            <a:ext cx="6144768" cy="384048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5577840" y="5669280"/>
            <a:ext cx="6291072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05856" y="5733288"/>
            <a:ext cx="6035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D7D31"/>
                </a:solidFill>
              </a:rPr>
              <a:t>Selected Features: Glucose · BMI · Insulin · Age · Pregnancies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10241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11704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Model 1 — Logistic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676656"/>
            <a:ext cx="1170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EEAF1"/>
                </a:solidFill>
              </a:rPr>
              <a:t>Interpretable linear baseline — essential reference point for clinical deployment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64008" cy="3474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6537960"/>
            <a:ext cx="1179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EEAF1"/>
                </a:solidFill>
              </a:rPr>
              <a:t>Jamshaid Amjad  |  AI in Healthcare — Capstone Project  |  May 2026   [9/15]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15568"/>
            <a:ext cx="5486400" cy="278892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15568"/>
            <a:ext cx="5486400" cy="50292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1207008"/>
            <a:ext cx="5230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Model Description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" y="1618488"/>
            <a:ext cx="523036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▸  Linear model: log-odds = β₀ + β₁x₁ + … + β₅x₅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" y="2039112"/>
            <a:ext cx="523036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▸  Solver: L-BFGS (limited-memory quasi-Newton)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" y="2459736"/>
            <a:ext cx="523036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▸  Regularisation: L2 penalty (C=1.0 default)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" y="2880360"/>
            <a:ext cx="523036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▸  Max iterations: 1000 (ensures convergence)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" y="3300984"/>
            <a:ext cx="523036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▸  Threshold: 0.5 for binary prediction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041648"/>
            <a:ext cx="5486400" cy="2267712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041648"/>
            <a:ext cx="5486400" cy="502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" y="4133087"/>
            <a:ext cx="5230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Why Logistic Regression?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" y="4544568"/>
            <a:ext cx="5230368" cy="396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▸  Fully interpretable — coefficients show feature direction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" y="4895697"/>
            <a:ext cx="5230368" cy="396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▸  Clinicians can understand and trust the prediction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" y="5246827"/>
            <a:ext cx="5230368" cy="396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▸  Fast to train and deploy in resource-limited settings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" y="5597956"/>
            <a:ext cx="5230368" cy="396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▸  Calibrated probabilities useful for risk stratification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" y="5949086"/>
            <a:ext cx="5230368" cy="396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▸  Strong baseline: if complex models barely beat it, use LR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2472" y="1115568"/>
            <a:ext cx="5806440" cy="5193792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62472" y="1115568"/>
            <a:ext cx="5806440" cy="50292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0488" y="1188720"/>
            <a:ext cx="5550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Test-Set Performance (n=116)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0488" y="1664208"/>
            <a:ext cx="2651760" cy="86868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0488" y="1664208"/>
            <a:ext cx="50292" cy="868680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173736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Accuracy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206654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F75B6"/>
                </a:solidFill>
              </a:rPr>
              <a:t>77.6%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70848" y="1664208"/>
            <a:ext cx="2651760" cy="86868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70848" y="1664208"/>
            <a:ext cx="50292" cy="868680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17152" y="173736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Precision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7152" y="206654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F75B6"/>
                </a:solidFill>
              </a:rPr>
              <a:t>68.3%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0488" y="2688336"/>
            <a:ext cx="2651760" cy="86868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90488" y="2688336"/>
            <a:ext cx="50292" cy="868680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36792" y="276148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Recall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6792" y="309067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F75B6"/>
                </a:solidFill>
              </a:rPr>
              <a:t>68.3%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70848" y="2688336"/>
            <a:ext cx="2651760" cy="86868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70848" y="2688336"/>
            <a:ext cx="50292" cy="868680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17152" y="276148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F1 Score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17152" y="309067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F75B6"/>
                </a:solidFill>
              </a:rPr>
              <a:t>68.3%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90488" y="3712464"/>
            <a:ext cx="2651760" cy="86868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90488" y="3712464"/>
            <a:ext cx="50292" cy="8686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36792" y="3785616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ROC-AUC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6792" y="411480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D7D31"/>
                </a:solidFill>
              </a:rPr>
              <a:t>0.866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62472" y="4663440"/>
            <a:ext cx="5806440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90488" y="4709160"/>
            <a:ext cx="55504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EEAF1"/>
                </a:solidFill>
              </a:rPr>
              <a:t>5-Fold Cross-Validation F1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90488" y="4983480"/>
            <a:ext cx="5550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D7D31"/>
                </a:solidFill>
              </a:rPr>
              <a:t>0.718  ±  0.029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90488" y="5504688"/>
            <a:ext cx="5550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Confusion Matrix</a:t>
            </a:r>
          </a:p>
        </p:txBody>
      </p:sp>
      <p:pic>
        <p:nvPicPr>
          <p:cNvPr id="53" name="Picture 52" descr="logistic_regression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5504688"/>
            <a:ext cx="5120640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10241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11704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Model 2 — Random Forest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676656"/>
            <a:ext cx="1170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EEAF1"/>
                </a:solidFill>
              </a:rPr>
              <a:t>Ensemble of decision trees with GridSearchCV hyperparameter optimisation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64008" cy="3474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6537960"/>
            <a:ext cx="1179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EEAF1"/>
                </a:solidFill>
              </a:rPr>
              <a:t>Jamshaid Amjad  |  AI in Healthcare — Capstone Project  |  May 2026   [10/15]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15568"/>
            <a:ext cx="5486400" cy="274320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15568"/>
            <a:ext cx="5486400" cy="502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1207008"/>
            <a:ext cx="5230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Model Description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" y="1618488"/>
            <a:ext cx="523036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▸  Ensemble of N independent decision trees (bagging)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" y="2039112"/>
            <a:ext cx="523036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▸  Each tree trained on bootstrap sample of training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" y="2459736"/>
            <a:ext cx="523036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▸  Each split considers random subset of features (√5 ≈ 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" y="2880360"/>
            <a:ext cx="523036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▸  Final prediction: majority vote across all trees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" y="3300984"/>
            <a:ext cx="523036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▸  Naturally handles non-linear interactions between features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995928"/>
            <a:ext cx="5486400" cy="2313432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995928"/>
            <a:ext cx="5486400" cy="502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" y="4069080"/>
            <a:ext cx="5230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GridSearchCV Results (5-fold)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507992"/>
            <a:ext cx="548640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4562855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Parameter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22576" y="4562855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Search 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61104" y="4562855"/>
            <a:ext cx="1444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Best Value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855464"/>
            <a:ext cx="5486400" cy="347472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4910327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n_estimators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2576" y="4910327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100, 300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61104" y="4910327"/>
            <a:ext cx="1444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100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202936"/>
            <a:ext cx="5486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5257799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max_depth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22576" y="5257799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None, 10, 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61104" y="5257799"/>
            <a:ext cx="1444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550408"/>
            <a:ext cx="5486400" cy="347472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5605272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min_samples_split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22576" y="5605272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2, 5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61104" y="5605272"/>
            <a:ext cx="1444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897879"/>
            <a:ext cx="5486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5952743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min_samples_leaf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22576" y="5952743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1, 2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61104" y="5952743"/>
            <a:ext cx="1444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62472" y="1115568"/>
            <a:ext cx="5806440" cy="5193792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62472" y="1115568"/>
            <a:ext cx="5806440" cy="502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90488" y="1188720"/>
            <a:ext cx="5550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Test-Set Performance (n=116)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90488" y="1664208"/>
            <a:ext cx="2651760" cy="86868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90488" y="1664208"/>
            <a:ext cx="50292" cy="8686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6792" y="173736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Accuracy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6792" y="206654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0AD47"/>
                </a:solidFill>
              </a:rPr>
              <a:t>76.7%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70848" y="1664208"/>
            <a:ext cx="2651760" cy="86868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70848" y="1664208"/>
            <a:ext cx="50292" cy="8686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17152" y="173736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Precision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7152" y="206654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0AD47"/>
                </a:solidFill>
              </a:rPr>
              <a:t>69.4%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90488" y="2688336"/>
            <a:ext cx="2651760" cy="86868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90488" y="2688336"/>
            <a:ext cx="50292" cy="8686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36792" y="276148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Recall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36792" y="309067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0AD47"/>
                </a:solidFill>
              </a:rPr>
              <a:t>61.0%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70848" y="2688336"/>
            <a:ext cx="2651760" cy="86868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70848" y="2688336"/>
            <a:ext cx="50292" cy="8686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17152" y="276148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F1 Score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17152" y="309067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0AD47"/>
                </a:solidFill>
              </a:rPr>
              <a:t>64.9%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90488" y="3712464"/>
            <a:ext cx="2651760" cy="86868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90488" y="3712464"/>
            <a:ext cx="50292" cy="8686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36792" y="3785616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ROC-AUC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36792" y="411480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D7D31"/>
                </a:solidFill>
              </a:rPr>
              <a:t>0.841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62472" y="4663440"/>
            <a:ext cx="5806440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90488" y="4709160"/>
            <a:ext cx="55504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EEAF1"/>
                </a:solidFill>
              </a:rPr>
              <a:t>5-Fold Cross-Validation F1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90488" y="4983480"/>
            <a:ext cx="5550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D7D31"/>
                </a:solidFill>
              </a:rPr>
              <a:t>0.801  ±  0.042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90488" y="5504688"/>
            <a:ext cx="5550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Confusion Matrix</a:t>
            </a:r>
          </a:p>
        </p:txBody>
      </p:sp>
      <p:pic>
        <p:nvPicPr>
          <p:cNvPr id="68" name="Picture 67" descr="random_forest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5504688"/>
            <a:ext cx="5120640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10241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11704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Model 3 — MLP Neural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676656"/>
            <a:ext cx="1170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EEAF1"/>
                </a:solidFill>
              </a:rPr>
              <a:t>Feed-forward network with early stopping and learning-rate scheduling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64008" cy="3474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6537960"/>
            <a:ext cx="1179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EEAF1"/>
                </a:solidFill>
              </a:rPr>
              <a:t>Jamshaid Amjad  |  AI in Healthcare — Capstone Project  |  May 2026   [11/15]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15568"/>
            <a:ext cx="5486400" cy="5193792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15568"/>
            <a:ext cx="5486400" cy="502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1188720"/>
            <a:ext cx="5230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Network Architecture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719072"/>
            <a:ext cx="5120640" cy="475488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76479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Input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176479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5 neurons (selected features)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1945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F3864"/>
                </a:solidFill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377440"/>
            <a:ext cx="5120640" cy="47548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4231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Dense Layer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33472" y="242316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16 neurons + ReLU activation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28529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F3864"/>
                </a:solidFill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907792"/>
            <a:ext cx="5120640" cy="475488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95351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Dropout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33472" y="295351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rate = 0.2  (regularisation)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33832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F3864"/>
                </a:solidFill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438144"/>
            <a:ext cx="5120640" cy="47548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483863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Dense Layer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33472" y="3483863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8 neurons + ReLU activation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391363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F3864"/>
                </a:solidFill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059936"/>
            <a:ext cx="5120640" cy="47548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10565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Output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33472" y="410565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 neuron + Sigmoid → P(diabetes)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" y="4572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</a:rPr>
              <a:t>Loss function: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87168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BCEWithLogitsLoss (numerically stable)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" y="49194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</a:rPr>
              <a:t>Optimiser: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87168" y="49194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Adam  (lr=0.001)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" y="52669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</a:rPr>
              <a:t>LR Scheduler: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87168" y="52669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ReduceLROnPlateau (factor=0.5, patience=5)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" y="56144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</a:rPr>
              <a:t>Epochs: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87168" y="56144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Up to 50 (early stopping at patience=10)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" y="59618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</a:rPr>
              <a:t>Batch size: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87168" y="59618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32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62472" y="1115568"/>
            <a:ext cx="5806440" cy="5193792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62472" y="1115568"/>
            <a:ext cx="5806440" cy="502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0488" y="1188720"/>
            <a:ext cx="5550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Test-Set Performance (n=116)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90488" y="1664208"/>
            <a:ext cx="2651760" cy="86868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90488" y="1664208"/>
            <a:ext cx="50292" cy="8686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36792" y="173736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Accuracy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6792" y="206654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D7D31"/>
                </a:solidFill>
              </a:rPr>
              <a:t>76.7%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70848" y="1664208"/>
            <a:ext cx="2651760" cy="86868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70848" y="1664208"/>
            <a:ext cx="50292" cy="8686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17152" y="173736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Precision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17152" y="206654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D7D31"/>
                </a:solidFill>
              </a:rPr>
              <a:t>67.5%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90488" y="2688336"/>
            <a:ext cx="2651760" cy="86868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90488" y="2688336"/>
            <a:ext cx="50292" cy="8686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36792" y="276148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Recall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36792" y="309067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D7D31"/>
                </a:solidFill>
              </a:rPr>
              <a:t>65.9%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070848" y="2688336"/>
            <a:ext cx="2651760" cy="86868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070848" y="2688336"/>
            <a:ext cx="50292" cy="8686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17152" y="276148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F1 Score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17152" y="309067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D7D31"/>
                </a:solidFill>
              </a:rPr>
              <a:t>66.7%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90488" y="3712464"/>
            <a:ext cx="2651760" cy="86868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190488" y="3712464"/>
            <a:ext cx="50292" cy="8686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36792" y="3785616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ROC-AUC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36792" y="411480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0AD47"/>
                </a:solidFill>
              </a:rPr>
              <a:t>0.875 ★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62472" y="4663440"/>
            <a:ext cx="580644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90488" y="4700016"/>
            <a:ext cx="5550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</a:rPr>
              <a:t>★  Highest ROC-AUC of all three models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90488" y="5248656"/>
            <a:ext cx="55504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Training Curves</a:t>
            </a:r>
          </a:p>
        </p:txBody>
      </p:sp>
      <p:pic>
        <p:nvPicPr>
          <p:cNvPr id="68" name="Picture 67" descr="mlp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5248656"/>
            <a:ext cx="5733288" cy="19110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10241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11704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Training Strategy &amp; Cross-Validation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676656"/>
            <a:ext cx="1170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EEAF1"/>
                </a:solidFill>
              </a:rPr>
              <a:t>Rigorous evaluation methodology to ensure reliable, unbiased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64008" cy="3474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6537960"/>
            <a:ext cx="1179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EEAF1"/>
                </a:solidFill>
              </a:rPr>
              <a:t>Jamshaid Amjad  |  AI in Healthcare — Capstone Project  |  May 2026   [12/15]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15568"/>
            <a:ext cx="11548872" cy="1261872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15568"/>
            <a:ext cx="11548872" cy="502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1188720"/>
            <a:ext cx="11292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Evaluation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" y="157276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</a:rPr>
              <a:t>▸  Held-out Test Set: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76856" y="1572768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15% of data (n=116) — never seen during training or tuning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157276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</a:rPr>
              <a:t>▸  Validation Set: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1572768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15% for early stopping &amp; hyperparameter guidance (n=115)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157276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</a:rPr>
              <a:t>▸  Train Set: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49256" y="1572768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70% for fitting (n=538 raw, n=700 after SMOTE)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14600"/>
            <a:ext cx="5577840" cy="379476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2514600"/>
            <a:ext cx="5577840" cy="50292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2587752"/>
            <a:ext cx="5321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5-Fold Cross-Validation (LR &amp; RF)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" y="3063240"/>
            <a:ext cx="5321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1.  Combine train + validation set (n=653)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" y="3538728"/>
            <a:ext cx="5321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2.  Split into 5 equal folds (~131 samples each)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" y="4014216"/>
            <a:ext cx="5321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3.  Train on 4 folds, evaluate on 1 fold — repeat 5×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" y="4489704"/>
            <a:ext cx="5321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4.  Report mean F1 ± standard deviation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" y="4965192"/>
            <a:ext cx="5321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5.  Best RF params from GridSearch applied to final 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184648"/>
            <a:ext cx="5577840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52120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22576" y="52120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CV F1 Mean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9584" y="52120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Std Dev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2272" y="52120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Fold Scores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522976"/>
            <a:ext cx="5577840" cy="50292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555040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4040"/>
                </a:solidFill>
              </a:rPr>
              <a:t>Logistic Regression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22576" y="555040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0.718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9584" y="5550408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±0.029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62272" y="555040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[0.736, 0.685, 0.682, 0.748, 0.739]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6053328"/>
            <a:ext cx="5577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60807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4040"/>
                </a:solidFill>
              </a:rPr>
              <a:t>Random Forest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22576" y="608076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0.801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9584" y="608076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±0.042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62272" y="608076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[0.756, 0.769, 0.840, 0.862, 0.778]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53912" y="2514600"/>
            <a:ext cx="5715000" cy="196596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53912" y="2514600"/>
            <a:ext cx="5715000" cy="502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81928" y="2587752"/>
            <a:ext cx="5458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GridSearchCV — Random Forest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81928" y="30449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</a:rPr>
              <a:t>Search space: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30449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24 combinations (2×3×2×2)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81928" y="339242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</a:rPr>
              <a:t>CV folds: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33924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5-fold (same as CV above)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81928" y="373989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</a:rPr>
              <a:t>Scoring: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37398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F1 score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81928" y="40873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</a:rPr>
              <a:t>Best CV F1: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0" y="40873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0.8299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81928" y="4434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</a:rPr>
              <a:t>Best params: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4434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max_depth=10, n_estimators=100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53912" y="4617720"/>
            <a:ext cx="5715000" cy="169164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153912" y="4617720"/>
            <a:ext cx="5715000" cy="502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81928" y="4690872"/>
            <a:ext cx="5458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SMOTE — Class Balancing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81928" y="5093208"/>
            <a:ext cx="545896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04040"/>
                </a:solidFill>
              </a:rPr>
              <a:t>▸  Training set: 65% negative / 35% positive (imbalanced)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04040"/>
                </a:solidFill>
              </a:rPr>
              <a:t>▸  SMOTE generates synthetic minority (diabetic) samples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04040"/>
                </a:solidFill>
              </a:rPr>
              <a:t>▸  After SMOTE: 350 positive / 350 negative — 50/50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04040"/>
                </a:solidFill>
              </a:rPr>
              <a:t>▸  Applied to training set ONLY — val/test remain real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10241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11704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Performance Results — Test Set (n=116)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676656"/>
            <a:ext cx="1170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EEAF1"/>
                </a:solidFill>
              </a:rPr>
              <a:t>Held-out evaluation on 15% of data — never seen during training or hyperparameter selection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64008" cy="3474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6537960"/>
            <a:ext cx="1179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EEAF1"/>
                </a:solidFill>
              </a:rPr>
              <a:t>Jamshaid Amjad  |  AI in Healthcare — Capstone Project  |  May 2026   [13/15]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15568"/>
            <a:ext cx="11548872" cy="31272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" y="1161288"/>
            <a:ext cx="11292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Complete Metrics — All Models vs. Majority 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72768"/>
            <a:ext cx="11548872" cy="4206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1600200"/>
            <a:ext cx="24505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1600200"/>
            <a:ext cx="18105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5192" y="1600200"/>
            <a:ext cx="15910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2552" y="1600200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600200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F1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94392" y="1600200"/>
            <a:ext cx="11704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ROC-AUC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20272" y="1600200"/>
            <a:ext cx="493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Δ Base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002536"/>
            <a:ext cx="11548872" cy="402336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2029968"/>
            <a:ext cx="24505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F75B6"/>
                </a:solidFill>
              </a:rPr>
              <a:t>Logistic Regression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9232" y="2029968"/>
            <a:ext cx="18105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0AD47"/>
                </a:solidFill>
              </a:rPr>
              <a:t>0.776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5192" y="2029968"/>
            <a:ext cx="159105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0.683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2552" y="2029968"/>
            <a:ext cx="15361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0AD47"/>
                </a:solidFill>
              </a:rPr>
              <a:t>0.683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2029968"/>
            <a:ext cx="1444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0AD47"/>
                </a:solidFill>
              </a:rPr>
              <a:t>0.683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4392" y="2029968"/>
            <a:ext cx="11704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0.866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20272" y="2029968"/>
            <a:ext cx="4937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+36.6%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404872"/>
            <a:ext cx="11548872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" y="2432304"/>
            <a:ext cx="24505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0AD47"/>
                </a:solidFill>
              </a:rPr>
              <a:t>Random Forest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99232" y="2432304"/>
            <a:ext cx="18105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0.767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5192" y="2432304"/>
            <a:ext cx="159105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0AD47"/>
                </a:solidFill>
              </a:rPr>
              <a:t>0.694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2552" y="2432304"/>
            <a:ext cx="15361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0.610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2432304"/>
            <a:ext cx="1444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0.649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94392" y="2432304"/>
            <a:ext cx="11704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0.841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20272" y="2432304"/>
            <a:ext cx="4937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+34.1%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807208"/>
            <a:ext cx="11548872" cy="402336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" y="2834640"/>
            <a:ext cx="24505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</a:rPr>
              <a:t>MLP Neural Network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99232" y="2834640"/>
            <a:ext cx="18105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0.767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65192" y="2834640"/>
            <a:ext cx="159105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0.675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02552" y="2834640"/>
            <a:ext cx="15361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0.659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94192" y="2834640"/>
            <a:ext cx="1444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0.667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4392" y="2834640"/>
            <a:ext cx="11704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0AD47"/>
                </a:solidFill>
              </a:rPr>
              <a:t>0.875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20272" y="2834640"/>
            <a:ext cx="4937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+37.5%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3209544"/>
            <a:ext cx="11548872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3192" y="3236976"/>
            <a:ext cx="24505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07070"/>
                </a:solidFill>
              </a:rPr>
              <a:t>Majority Baseline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99232" y="3236976"/>
            <a:ext cx="18105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0.647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65192" y="3236976"/>
            <a:ext cx="159105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N/A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02552" y="3236976"/>
            <a:ext cx="15361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0.000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94192" y="3236976"/>
            <a:ext cx="1444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0.000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94392" y="3236976"/>
            <a:ext cx="11704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0.500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20272" y="3236976"/>
            <a:ext cx="4937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6" y="3566160"/>
            <a:ext cx="11292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07070"/>
                </a:solidFill>
              </a:rPr>
              <a:t>★ Green values = best in column   |   Δ Base = improvement over majority-class baseline AUC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3977639"/>
            <a:ext cx="2743200" cy="2331720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3977639"/>
            <a:ext cx="2743200" cy="502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8056" y="4069080"/>
            <a:ext cx="2487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Best Overall Accuracy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8056" y="4617720"/>
            <a:ext cx="24871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Logistic Regression
77.6%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64408" y="3977639"/>
            <a:ext cx="2743200" cy="23317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264408" y="3977639"/>
            <a:ext cx="2743200" cy="502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92424" y="4069080"/>
            <a:ext cx="2487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Best Precision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92424" y="4617720"/>
            <a:ext cx="24871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Random Forest
69.4%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08776" y="3977639"/>
            <a:ext cx="2743200" cy="2331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08776" y="3977639"/>
            <a:ext cx="2743200" cy="502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36792" y="4069080"/>
            <a:ext cx="2487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Best ROC-AUC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36792" y="4617720"/>
            <a:ext cx="24871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MLP Neural Net
0.875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153144" y="3977639"/>
            <a:ext cx="2743200" cy="2331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153144" y="3977639"/>
            <a:ext cx="2743200" cy="502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81160" y="4069080"/>
            <a:ext cx="2487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Best CV Stability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81160" y="4617720"/>
            <a:ext cx="24871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Random Forest
F1 0.801 ± 0.042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10241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11704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Model Comparison — ROC Curves &amp; Performance Charts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676656"/>
            <a:ext cx="1170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EEAF1"/>
                </a:solidFill>
              </a:rPr>
              <a:t>Visual evaluation of discrimination ability and metric trade-offs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64008" cy="3474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6537960"/>
            <a:ext cx="1179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EEAF1"/>
                </a:solidFill>
              </a:rPr>
              <a:t>Jamshaid Amjad  |  AI in Healthcare — Capstone Project  |  May 2026   [14/15]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15568"/>
            <a:ext cx="6035040" cy="5193792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15568"/>
            <a:ext cx="6035040" cy="50292"/>
          </a:xfrm>
          <a:prstGeom prst="rect">
            <a:avLst/>
          </a:prstGeom>
          <a:solidFill>
            <a:srgbClr val="2F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1188720"/>
            <a:ext cx="5779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ROC Curves — All Models vs. Baseline</a:t>
            </a:r>
          </a:p>
        </p:txBody>
      </p:sp>
      <p:pic>
        <p:nvPicPr>
          <p:cNvPr id="13" name="Picture 12" descr="roc_curve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627632"/>
            <a:ext cx="5907024" cy="506316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20040" y="5742432"/>
            <a:ext cx="603504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78815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F75B6"/>
                </a:solidFill>
              </a:rPr>
              <a:t>LR: AUC=0.866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578815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0AD47"/>
                </a:solidFill>
              </a:rPr>
              <a:t>RF: AUC=0.841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578815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D7D31"/>
                </a:solidFill>
              </a:rPr>
              <a:t>MLP: AUC=0.875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1968" y="1115568"/>
            <a:ext cx="5266944" cy="3364992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1968" y="1115568"/>
            <a:ext cx="5266944" cy="502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9984" y="1188720"/>
            <a:ext cx="5010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Accuracy / F1 / ROC-AUC by Model</a:t>
            </a:r>
          </a:p>
        </p:txBody>
      </p:sp>
      <p:pic>
        <p:nvPicPr>
          <p:cNvPr id="21" name="Picture 20" descr="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1627632"/>
            <a:ext cx="5138928" cy="3083357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601968" y="4617720"/>
            <a:ext cx="5266944" cy="1691640"/>
          </a:xfrm>
          <a:prstGeom prst="rect">
            <a:avLst/>
          </a:prstGeom>
          <a:solidFill>
            <a:srgbClr val="D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01968" y="4617720"/>
            <a:ext cx="5266944" cy="502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9984" y="4690872"/>
            <a:ext cx="5010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Interpretation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9984" y="5093208"/>
            <a:ext cx="501091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</a:rPr>
              <a:t>▸  All models substantially outperform random (AUC=0.500)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</a:rPr>
              <a:t>▸  MLP leads on ROC-AUC — best probabilistic triage tool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</a:rPr>
              <a:t>▸  LR leads on F1 — best balanced classifier for deployment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</a:rPr>
              <a:t>▸  RF most stable across CV folds (std=0.042)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</a:rPr>
              <a:t>▸  Accuracy differences small (~1%) — ROC-AUC is the key metric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14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" y="0"/>
            <a:ext cx="12124944" cy="1024128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73152"/>
            <a:ext cx="11704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76656"/>
            <a:ext cx="1170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EEAF1"/>
                </a:solidFill>
              </a:rPr>
              <a:t>Key findings, clinical implications, limitations, and 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1556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D7D31"/>
                </a:solidFill>
              </a:rPr>
              <a:t>Key Findings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72768"/>
            <a:ext cx="5577840" cy="621792"/>
          </a:xfrm>
          <a:prstGeom prst="rect">
            <a:avLst/>
          </a:prstGeom>
          <a:solidFill>
            <a:srgbClr val="254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72768"/>
            <a:ext cx="50292" cy="6217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609344"/>
            <a:ext cx="5340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</a:rPr>
              <a:t>All models ROC-AUC &gt; 0.84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1874519"/>
            <a:ext cx="5340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EEAF1"/>
                </a:solidFill>
              </a:rPr>
              <a:t>Routine clinical measurements are sufficient for meaningful diabetes screening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286000"/>
            <a:ext cx="5577840" cy="621792"/>
          </a:xfrm>
          <a:prstGeom prst="rect">
            <a:avLst/>
          </a:prstGeom>
          <a:solidFill>
            <a:srgbClr val="254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0"/>
            <a:ext cx="50292" cy="6217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322576"/>
            <a:ext cx="5340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</a:rPr>
              <a:t>MLP achieves best AUC (0.875)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2587752"/>
            <a:ext cx="5340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EEAF1"/>
                </a:solidFill>
              </a:rPr>
              <a:t>Non-linear feature interactions add discriminative value over linear models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999232"/>
            <a:ext cx="5577840" cy="621792"/>
          </a:xfrm>
          <a:prstGeom prst="rect">
            <a:avLst/>
          </a:prstGeom>
          <a:solidFill>
            <a:srgbClr val="254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2999232"/>
            <a:ext cx="50292" cy="6217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3035808"/>
            <a:ext cx="5340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</a:rPr>
              <a:t>Logistic Regression best F1 (0.683)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3300984"/>
            <a:ext cx="5340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EEAF1"/>
                </a:solidFill>
              </a:rPr>
              <a:t>Interpretable linear model remains competitive and is preferred in clinical contexts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712463"/>
            <a:ext cx="5577840" cy="621792"/>
          </a:xfrm>
          <a:prstGeom prst="rect">
            <a:avLst/>
          </a:prstGeom>
          <a:solidFill>
            <a:srgbClr val="254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3712463"/>
            <a:ext cx="50292" cy="6217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3749039"/>
            <a:ext cx="5340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</a:rPr>
              <a:t>Glucose + BMI are top predictors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4014215"/>
            <a:ext cx="5340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EEAF1"/>
                </a:solidFill>
              </a:rPr>
              <a:t>Consistent across ANOVA, RF importance, and clinical literature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4425696"/>
            <a:ext cx="5577840" cy="621792"/>
          </a:xfrm>
          <a:prstGeom prst="rect">
            <a:avLst/>
          </a:prstGeom>
          <a:solidFill>
            <a:srgbClr val="254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" y="4425696"/>
            <a:ext cx="50292" cy="6217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4462272"/>
            <a:ext cx="5340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</a:rPr>
              <a:t>SMOTE + selection + tuning matter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" y="4727448"/>
            <a:ext cx="5340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EEAF1"/>
                </a:solidFill>
              </a:rPr>
              <a:t>Each preprocessing step contributed measurable improvement to final performance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1115568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</a:rPr>
              <a:t>Limitations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1572768"/>
            <a:ext cx="5879592" cy="457200"/>
          </a:xfrm>
          <a:prstGeom prst="rect">
            <a:avLst/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1600200"/>
            <a:ext cx="5605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0B0"/>
                </a:solidFill>
              </a:rPr>
              <a:t>⚠  Small dataset (n=768) — Pima women only, poor external validity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2103120"/>
            <a:ext cx="5879592" cy="457200"/>
          </a:xfrm>
          <a:prstGeom prst="rect">
            <a:avLst/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2130552"/>
            <a:ext cx="5605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0B0"/>
                </a:solidFill>
              </a:rPr>
              <a:t>⚠  High missingness in Insulin (49%) limits feature reliability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2633472"/>
            <a:ext cx="5879592" cy="457200"/>
          </a:xfrm>
          <a:prstGeom prst="rect">
            <a:avLst/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2660904"/>
            <a:ext cx="5605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0B0"/>
                </a:solidFill>
              </a:rPr>
              <a:t>⚠  No prospective or multi-centre validation performed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3163824"/>
            <a:ext cx="5879592" cy="457200"/>
          </a:xfrm>
          <a:prstGeom prst="rect">
            <a:avLst/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3191256"/>
            <a:ext cx="5605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0B0"/>
                </a:solidFill>
              </a:rPr>
              <a:t>⚠  Temporal bias: dataset from 1988, population may have shifted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3767328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0AD47"/>
                </a:solidFill>
              </a:rPr>
              <a:t>Future Work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60" y="4251960"/>
            <a:ext cx="5879592" cy="420624"/>
          </a:xfrm>
          <a:prstGeom prst="rect">
            <a:avLst/>
          </a:prstGeom>
          <a:solidFill>
            <a:srgbClr val="1A2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4270248"/>
            <a:ext cx="5605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FFB0"/>
                </a:solidFill>
              </a:rPr>
              <a:t>→  Validate on larger, diverse multi-ethnic cohorts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4727448"/>
            <a:ext cx="5879592" cy="420624"/>
          </a:xfrm>
          <a:prstGeom prst="rect">
            <a:avLst/>
          </a:prstGeom>
          <a:solidFill>
            <a:srgbClr val="1A2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4745736"/>
            <a:ext cx="5605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FFB0"/>
                </a:solidFill>
              </a:rPr>
              <a:t>→  Add HbA1c and fasting glucose as additional features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5202936"/>
            <a:ext cx="5879592" cy="420624"/>
          </a:xfrm>
          <a:prstGeom prst="rect">
            <a:avLst/>
          </a:prstGeom>
          <a:solidFill>
            <a:srgbClr val="1A2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5221224"/>
            <a:ext cx="5605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FFB0"/>
                </a:solidFill>
              </a:rPr>
              <a:t>→  Implement calibration curves for probability reliability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5678424"/>
            <a:ext cx="5879592" cy="420624"/>
          </a:xfrm>
          <a:prstGeom prst="rect">
            <a:avLst/>
          </a:prstGeom>
          <a:solidFill>
            <a:srgbClr val="1A2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5696712"/>
            <a:ext cx="5605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FFB0"/>
                </a:solidFill>
              </a:rPr>
              <a:t>→  Fairness audit across age, sex, and ethnic subgroups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60" y="6153912"/>
            <a:ext cx="5879592" cy="420624"/>
          </a:xfrm>
          <a:prstGeom prst="rect">
            <a:avLst/>
          </a:prstGeom>
          <a:solidFill>
            <a:srgbClr val="1A2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0" y="6172200"/>
            <a:ext cx="5605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FFB0"/>
                </a:solidFill>
              </a:rPr>
              <a:t>→  Deploy as REST API with explainability (SHAP) layer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8600" y="603504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Thank you  |  Questions?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" y="6437376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EEAF1"/>
                </a:solidFill>
              </a:rPr>
              <a:t>Code: github.com/JamshaidAmjad/AI-Diabetes-Prediction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